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3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B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8" d="100"/>
          <a:sy n="88" d="100"/>
        </p:scale>
        <p:origin x="451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4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5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43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7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6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6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6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8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9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6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D3E61-43BA-4E6C-992C-20AC94E4A90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0C010-A87B-4ACB-A79D-76596D663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8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48" y="0"/>
            <a:ext cx="11075350" cy="68614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54289" y="995881"/>
            <a:ext cx="2417275" cy="2987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20168" y="96059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08527" y="1294646"/>
            <a:ext cx="3815862" cy="1569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SA" sz="3200" dirty="0">
                <a:solidFill>
                  <a:schemeClr val="bg1"/>
                </a:solidFill>
              </a:rPr>
              <a:t>طاقة أكثر كفاءة... وتكاليف أقل، واستمرارية أعلى لأعمالك.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5285" y="5015943"/>
            <a:ext cx="6096000" cy="92333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r" rtl="1"/>
            <a:r>
              <a:rPr lang="ar-SA" dirty="0" smtClean="0">
                <a:solidFill>
                  <a:schemeClr val="bg1"/>
                </a:solidFill>
              </a:rPr>
              <a:t>فيوتشر إيرث هي مقاول معتمد يقدم </a:t>
            </a:r>
            <a:r>
              <a:rPr lang="ar-SA" dirty="0">
                <a:solidFill>
                  <a:schemeClr val="bg1"/>
                </a:solidFill>
              </a:rPr>
              <a:t>حلولاً متكاملة للطاقة الشمسية وأنظمة تخزين الطاقة، بدءًا من الدراسات والتصميم وحتى التنفيذ والتشغيل والصيانة، مع الالتزام الكامل </a:t>
            </a:r>
            <a:r>
              <a:rPr lang="ar-SA" dirty="0" smtClean="0">
                <a:solidFill>
                  <a:schemeClr val="bg1"/>
                </a:solidFill>
              </a:rPr>
              <a:t>بأعلى </a:t>
            </a:r>
            <a:r>
              <a:rPr lang="ar-SA" dirty="0">
                <a:solidFill>
                  <a:schemeClr val="bg1"/>
                </a:solidFill>
              </a:rPr>
              <a:t>معايير الجودة والسلامة.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50368" y="6251330"/>
            <a:ext cx="84670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مشاريعنا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02455" y="591265"/>
            <a:ext cx="161321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 rtl="1"/>
            <a:r>
              <a:rPr lang="ar-SA" dirty="0" smtClean="0">
                <a:solidFill>
                  <a:schemeClr val="bg1"/>
                </a:solidFill>
              </a:rPr>
              <a:t>حلول تخزين الطاقة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0" name="Elbow Connector 9"/>
          <p:cNvCxnSpPr>
            <a:stCxn id="8" idx="0"/>
          </p:cNvCxnSpPr>
          <p:nvPr/>
        </p:nvCxnSpPr>
        <p:spPr>
          <a:xfrm rot="16200000" flipV="1">
            <a:off x="5570476" y="452677"/>
            <a:ext cx="274320" cy="2855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49490" y="591265"/>
            <a:ext cx="149271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 إضافة: مشاريعنا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62270" y="3570792"/>
            <a:ext cx="390203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chemeClr val="bg1"/>
                </a:solidFill>
              </a:rPr>
              <a:t>إزالة اللوجو وإضافة صورة لمنظومة طاقة شمسية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122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9" y="749828"/>
            <a:ext cx="11888615" cy="51058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31992" y="2784006"/>
            <a:ext cx="3828292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ar-SA" dirty="0"/>
              <a:t>حلول الطاقة المتكاملة... من شريك هندسي واحد.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848662" y="1119160"/>
            <a:ext cx="1141659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ar-SA" dirty="0"/>
              <a:t>حلول الطاقة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51247" y="5002850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 الترقيم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45434" y="1204546"/>
            <a:ext cx="492370" cy="3675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-2488492" y="1722177"/>
            <a:ext cx="47836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dirty="0"/>
              <a:t>أنظمة الطاقة الشمسية </a:t>
            </a:r>
            <a:r>
              <a:rPr lang="ar-SA" dirty="0" smtClean="0"/>
              <a:t>للأسطح</a:t>
            </a:r>
          </a:p>
          <a:p>
            <a:pPr algn="r" rtl="1"/>
            <a:endParaRPr lang="ar-SA" dirty="0" smtClean="0"/>
          </a:p>
          <a:p>
            <a:pPr algn="r" rtl="1"/>
            <a:r>
              <a:rPr lang="ar-SA" dirty="0"/>
              <a:t>محطات الطاقة الشمسية </a:t>
            </a:r>
            <a:r>
              <a:rPr lang="ar-SA" dirty="0" smtClean="0"/>
              <a:t>الأرضية</a:t>
            </a:r>
          </a:p>
          <a:p>
            <a:pPr algn="r" rtl="1"/>
            <a:endParaRPr lang="ar-SA" dirty="0" smtClean="0"/>
          </a:p>
          <a:p>
            <a:pPr algn="r" rtl="1"/>
            <a:r>
              <a:rPr lang="ar-SA" dirty="0"/>
              <a:t>الأنظمة الهجينة وحلول الشبكات </a:t>
            </a:r>
            <a:r>
              <a:rPr lang="ar-SA" dirty="0" smtClean="0"/>
              <a:t>الذكية</a:t>
            </a:r>
          </a:p>
          <a:p>
            <a:pPr algn="r" rtl="1"/>
            <a:endParaRPr lang="ar-SA" dirty="0" smtClean="0"/>
          </a:p>
          <a:p>
            <a:pPr algn="r" rtl="1"/>
            <a:r>
              <a:rPr lang="ar-SA" altLang="en-US" b="1" dirty="0">
                <a:latin typeface="Arial" panose="020B0704020202020204" pitchFamily="34" charset="0"/>
              </a:rPr>
              <a:t>أنظمة تخزين الطاقة</a:t>
            </a:r>
            <a:r>
              <a:rPr lang="en-US" altLang="en-US" b="1" dirty="0">
                <a:latin typeface="Arial" panose="020B0704020202020204" pitchFamily="34" charset="0"/>
                <a:cs typeface="Arial" panose="020B0704020202020204" pitchFamily="34" charset="0"/>
              </a:rPr>
              <a:t> </a:t>
            </a:r>
            <a:r>
              <a:rPr lang="en-US" altLang="en-US" b="1" dirty="0" smtClean="0">
                <a:latin typeface="Arial" panose="020B0704020202020204" pitchFamily="34" charset="0"/>
                <a:cs typeface="Arial" panose="020B0704020202020204" pitchFamily="34" charset="0"/>
              </a:rPr>
              <a:t>(</a:t>
            </a:r>
            <a:r>
              <a:rPr lang="en-US" altLang="en-US" b="1" dirty="0">
                <a:latin typeface="Arial" panose="020B0704020202020204" pitchFamily="34" charset="0"/>
                <a:cs typeface="Arial" panose="020B0704020202020204" pitchFamily="34" charset="0"/>
              </a:rPr>
              <a:t>BESS)</a:t>
            </a:r>
            <a:endParaRPr lang="en-US" altLang="en-US" dirty="0">
              <a:latin typeface="Arial" panose="020B0704020202020204" pitchFamily="34" charset="0"/>
            </a:endParaRPr>
          </a:p>
          <a:p>
            <a:pPr algn="r" rtl="1"/>
            <a:endParaRPr lang="ar-SA" dirty="0" smtClean="0"/>
          </a:p>
          <a:p>
            <a:pPr algn="r" rtl="1"/>
            <a:r>
              <a:rPr lang="ar-SA" dirty="0" smtClean="0"/>
              <a:t>حلول </a:t>
            </a:r>
            <a:r>
              <a:rPr lang="ar-SA" dirty="0"/>
              <a:t>تمويل مشاريع الطاقة</a:t>
            </a:r>
            <a:endParaRPr lang="ar-SA" dirty="0" smtClean="0"/>
          </a:p>
          <a:p>
            <a:pPr algn="r" rtl="1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72234" y="3164251"/>
            <a:ext cx="2694514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SA" sz="1200" dirty="0"/>
              <a:t>نحوّل احتياجاتك في مجال الطاقة إلى حلول عملية وموثوقة، من خلال خدمات هندسية متكاملة تغطي جميع مراحل المشروع، من الفكرة وحتى التشغيل.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6349593" y="958321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70420" y="2968672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x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77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75" y="521207"/>
            <a:ext cx="10595485" cy="4920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5899" y="1046284"/>
            <a:ext cx="3171061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sz="3200" dirty="0" smtClean="0">
                <a:solidFill>
                  <a:srgbClr val="FF0000"/>
                </a:solidFill>
              </a:rPr>
              <a:t>دمجها مع حلول الطاقة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8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72761" y="275724"/>
            <a:ext cx="8445187" cy="5808553"/>
            <a:chOff x="1089225" y="73501"/>
            <a:chExt cx="10072785" cy="789176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9225" y="73501"/>
              <a:ext cx="10072785" cy="2740037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9225" y="2813537"/>
              <a:ext cx="10072785" cy="5151729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4306242" y="327004"/>
            <a:ext cx="357822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dirty="0">
                <a:solidFill>
                  <a:schemeClr val="bg1"/>
                </a:solidFill>
              </a:rPr>
              <a:t>مشاريع هندسية تُجسّد خبرتنا في حلول الطاقة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34690" y="696336"/>
            <a:ext cx="5764959" cy="46166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chemeClr val="bg1"/>
                </a:solidFill>
              </a:rPr>
              <a:t>نفخر بتنفيذ مشاريع طاقة شمسية وأنظمة طاقة متكاملة لعملائنا في المملكة العربية السعودية ودول مجلس التعاون الخليجي، وفق أعلى المعايير الهندسية وبجودة تضمن الأداء والاعتمادية على المدى الطويل.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3660" y="1433501"/>
            <a:ext cx="1314687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ar-SA" sz="4000" dirty="0" smtClean="0">
                <a:solidFill>
                  <a:srgbClr val="FF0000"/>
                </a:solidFill>
              </a:rPr>
              <a:t>إزالة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60269" y="501786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08488" y="4711279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chemeClr val="bg1"/>
                </a:solidFill>
              </a:rPr>
              <a:t>ميجاوات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73816" y="464853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64226" y="291650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36711" y="478870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9181" y="512639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39181" y="323804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4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83" y="678932"/>
            <a:ext cx="11006515" cy="53047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8086" y="1261641"/>
            <a:ext cx="214994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 من الصفحة الرئيسية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1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8" y="324091"/>
            <a:ext cx="11216632" cy="5664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63252" y="324091"/>
            <a:ext cx="4525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dirty="0" smtClean="0">
                <a:solidFill>
                  <a:srgbClr val="FF0000"/>
                </a:solidFill>
              </a:rPr>
              <a:t>لماذا فيوتشر إيرث ؟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848771"/>
            <a:ext cx="6096000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r" rtl="1"/>
            <a:r>
              <a:rPr lang="ar-SA" sz="2000" dirty="0">
                <a:solidFill>
                  <a:srgbClr val="FF0000"/>
                </a:solidFill>
              </a:rPr>
              <a:t>نصمم وننفذ حلول طاقة متكاملة لرفع كفاءة التشغيل وتحقيق عائد استثماري مستدام.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49661" y="2658440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اعتماد وزارة الطاقة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6845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ar-SA" dirty="0">
                <a:solidFill>
                  <a:srgbClr val="FF0000"/>
                </a:solidFill>
              </a:rPr>
              <a:t>مؤهلون لتصميم وتنفيذ وربط أنظمة الطاقة الشمسية بالشبكة حتى قدرة 2 ميجاواط، وفق متطلبات وزارة الطاقة والشركة السعودية للكهرباء.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6102" y="2643128"/>
            <a:ext cx="3571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dirty="0">
                <a:solidFill>
                  <a:srgbClr val="FF0000"/>
                </a:solidFill>
              </a:rPr>
              <a:t>حلول هندسية تحقق قيمة استثمارية مستدامة.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91704" y="359263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ar-SA" dirty="0">
                <a:solidFill>
                  <a:srgbClr val="FF0000"/>
                </a:solidFill>
              </a:rPr>
              <a:t>تصميم هندسي يساهم في تحقيق عائد على الاستثمار قد يصل إلى 6 أضعاف رأس المال خلال العمر التشغيلي للنظام، وفقًا لطبيعة المشروع واستهلاك الطاقة.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7840" y="4971019"/>
            <a:ext cx="1789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dirty="0">
                <a:solidFill>
                  <a:srgbClr val="FF0000"/>
                </a:solidFill>
              </a:rPr>
              <a:t>حلول هندسية متكاملة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3388" y="57205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ar-SA" dirty="0">
                <a:solidFill>
                  <a:srgbClr val="FF0000"/>
                </a:solidFill>
              </a:rPr>
              <a:t>نتولى جميع مراحل المشروع، بدءًا من الدراسات والتصميم، مرورًا بالتوريد والتنفيذ، وحتى التشغيل والصيانة، لضمان جودة التنفيذ وتكامل الحلول.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5042" y="4971019"/>
            <a:ext cx="2343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dirty="0">
                <a:solidFill>
                  <a:srgbClr val="FF0000"/>
                </a:solidFill>
              </a:rPr>
              <a:t>معايير عالمية للجودة والتميز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61654" y="6010621"/>
            <a:ext cx="52303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FF0000"/>
                </a:solidFill>
              </a:rPr>
              <a:t>نعمل وفق معايير </a:t>
            </a:r>
            <a:r>
              <a:rPr lang="en-US" dirty="0">
                <a:solidFill>
                  <a:srgbClr val="FF0000"/>
                </a:solidFill>
              </a:rPr>
              <a:t>ISO 9001 </a:t>
            </a:r>
            <a:r>
              <a:rPr lang="ar-SA" dirty="0">
                <a:solidFill>
                  <a:srgbClr val="FF0000"/>
                </a:solidFill>
              </a:rPr>
              <a:t>للجودة، و</a:t>
            </a:r>
            <a:r>
              <a:rPr lang="en-US" dirty="0">
                <a:solidFill>
                  <a:srgbClr val="FF0000"/>
                </a:solidFill>
              </a:rPr>
              <a:t>ISO 14001 </a:t>
            </a:r>
            <a:r>
              <a:rPr lang="ar-SA" dirty="0">
                <a:solidFill>
                  <a:srgbClr val="FF0000"/>
                </a:solidFill>
              </a:rPr>
              <a:t>للإدارة البيئية، و</a:t>
            </a:r>
            <a:r>
              <a:rPr lang="en-US" dirty="0">
                <a:solidFill>
                  <a:srgbClr val="FF0000"/>
                </a:solidFill>
              </a:rPr>
              <a:t>ISO 45001 </a:t>
            </a:r>
            <a:r>
              <a:rPr lang="ar-SA" dirty="0">
                <a:solidFill>
                  <a:srgbClr val="FF0000"/>
                </a:solidFill>
              </a:rPr>
              <a:t>للصحة والسلامة المهنية، لضمان تنفيذ المشاريع بكفاءة وموثوقية.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6" y="604559"/>
            <a:ext cx="11935676" cy="56776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7408" y="835269"/>
            <a:ext cx="377379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chemeClr val="bg1"/>
                </a:solidFill>
              </a:rPr>
              <a:t>خدمات هندسية متكاملة... من الفكرة إلى التشغيل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03198" y="2085928"/>
            <a:ext cx="6096000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</a:rPr>
              <a:t>من الفكرة الأولى إلى التشغيل المستدام، نوفر </a:t>
            </a:r>
            <a:r>
              <a:rPr lang="ar-SA" dirty="0" smtClean="0">
                <a:solidFill>
                  <a:schemeClr val="bg1"/>
                </a:solidFill>
              </a:rPr>
              <a:t>خدمات </a:t>
            </a:r>
            <a:r>
              <a:rPr lang="ar-SA" dirty="0">
                <a:solidFill>
                  <a:schemeClr val="bg1"/>
                </a:solidFill>
              </a:rPr>
              <a:t>هندسية متكاملة تضمن تنفيذًا احترافيًا، وكفاءة تشغيلية، وقيمة استثمارية طويلة الأمد.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0665" y="1901262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61646" y="4187251"/>
            <a:ext cx="195758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</a:rPr>
              <a:t>التصميم </a:t>
            </a:r>
            <a:r>
              <a:rPr lang="ar-SA" dirty="0" smtClean="0">
                <a:solidFill>
                  <a:schemeClr val="bg1"/>
                </a:solidFill>
              </a:rPr>
              <a:t>والتنفيذ (</a:t>
            </a:r>
            <a:r>
              <a:rPr lang="en-US" dirty="0" smtClean="0">
                <a:solidFill>
                  <a:schemeClr val="bg1"/>
                </a:solidFill>
              </a:rPr>
              <a:t>EPC</a:t>
            </a:r>
            <a:r>
              <a:rPr lang="ar-SA" dirty="0" smtClean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34921" y="5055577"/>
            <a:ext cx="2164277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chemeClr val="bg1"/>
                </a:solidFill>
              </a:rPr>
              <a:t>تصميم هندسي، توريد، تنفيذ، اختبارات وتشغيل وفق أعلى معايير الجودة والسلامة.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9104" y="35782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22050" y="35782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3526" y="35782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93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38" y="1049802"/>
            <a:ext cx="11441318" cy="44453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85562" y="1086730"/>
            <a:ext cx="305564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ar-SA" dirty="0"/>
              <a:t>نفخر بثقة عملائنا وشركائنا حول العالم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889738" y="1883704"/>
            <a:ext cx="6096000" cy="27699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r" rtl="1"/>
            <a:r>
              <a:rPr lang="ar-SA" sz="1200" dirty="0"/>
              <a:t>نعمل مع كبرى الجهات الحكومية، والمؤسسات الصناعية، والمصنعين العالميين لتقديم حلول طاقة موثوقة ومستدامة.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0775511" y="2041938"/>
            <a:ext cx="752129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ar-SA" dirty="0"/>
              <a:t>عملاؤنا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6" y="938462"/>
            <a:ext cx="11565392" cy="46419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33784" y="2251557"/>
            <a:ext cx="3398687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ar-SA" dirty="0" smtClean="0">
                <a:solidFill>
                  <a:schemeClr val="bg1"/>
                </a:solidFill>
              </a:rPr>
              <a:t>حوّل </a:t>
            </a:r>
            <a:r>
              <a:rPr lang="ar-SA" dirty="0">
                <a:solidFill>
                  <a:schemeClr val="bg1"/>
                </a:solidFill>
              </a:rPr>
              <a:t>استهلاك الطاقة إلى استثمار </a:t>
            </a:r>
            <a:r>
              <a:rPr lang="ar-SA" dirty="0" smtClean="0">
                <a:solidFill>
                  <a:schemeClr val="bg1"/>
                </a:solidFill>
              </a:rPr>
              <a:t>ذكي اليوم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83429" y="3698018"/>
            <a:ext cx="6096000" cy="64633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r" rtl="1"/>
            <a:r>
              <a:rPr lang="ar-SA" dirty="0">
                <a:solidFill>
                  <a:schemeClr val="bg1"/>
                </a:solidFill>
              </a:rPr>
              <a:t>ابدأ بتقييم هندسي شامل لمنشأتك لتحديد أفضل حلول الطاقة التي تخفض التكاليف التشغيلية وترفع كفاءة الأداء.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83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5692"/>
            <a:ext cx="11913697" cy="4977083"/>
          </a:xfrm>
          <a:prstGeom prst="rect">
            <a:avLst/>
          </a:prstGeom>
          <a:ln>
            <a:solidFill>
              <a:srgbClr val="0A1B2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7080069" y="2009238"/>
            <a:ext cx="4093028" cy="138499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chemeClr val="bg1"/>
                </a:solidFill>
              </a:rPr>
              <a:t>فيوتشر إيرث لأنظمة الطاقة شريك هندسي </a:t>
            </a:r>
            <a:r>
              <a:rPr lang="ar-SA" sz="1400" dirty="0" smtClean="0">
                <a:solidFill>
                  <a:schemeClr val="bg1"/>
                </a:solidFill>
              </a:rPr>
              <a:t>معتمد من وزارة الطاقة متخصص </a:t>
            </a:r>
            <a:r>
              <a:rPr lang="ar-SA" sz="1400" dirty="0">
                <a:solidFill>
                  <a:schemeClr val="bg1"/>
                </a:solidFill>
              </a:rPr>
              <a:t>في حلول الطاقة </a:t>
            </a:r>
            <a:r>
              <a:rPr lang="ar-SA" sz="1400" dirty="0" smtClean="0">
                <a:solidFill>
                  <a:schemeClr val="bg1"/>
                </a:solidFill>
              </a:rPr>
              <a:t>المتجددة وأنظمة تخزين الطاقة، </a:t>
            </a:r>
            <a:r>
              <a:rPr lang="ar-SA" sz="1400" dirty="0">
                <a:solidFill>
                  <a:schemeClr val="bg1"/>
                </a:solidFill>
              </a:rPr>
              <a:t>نقدم خدمات التصميم والهندسة والتوريد والتنفيذ والتشغيل والصيانة لمشاريع </a:t>
            </a:r>
            <a:r>
              <a:rPr lang="ar-SA" sz="1400" dirty="0" smtClean="0">
                <a:solidFill>
                  <a:schemeClr val="bg1"/>
                </a:solidFill>
              </a:rPr>
              <a:t>الطاقة في القطاعات </a:t>
            </a:r>
            <a:r>
              <a:rPr lang="ar-SA" sz="1400" dirty="0">
                <a:solidFill>
                  <a:schemeClr val="bg1"/>
                </a:solidFill>
              </a:rPr>
              <a:t>التجارية </a:t>
            </a:r>
            <a:r>
              <a:rPr lang="ar-SA" sz="1400" dirty="0" smtClean="0">
                <a:solidFill>
                  <a:schemeClr val="bg1"/>
                </a:solidFill>
              </a:rPr>
              <a:t>والصناعية والزراعية والسكنية، </a:t>
            </a:r>
            <a:r>
              <a:rPr lang="ar-SA" sz="1400" dirty="0">
                <a:solidFill>
                  <a:schemeClr val="bg1"/>
                </a:solidFill>
              </a:rPr>
              <a:t>وفق أعلى معايير الجودة والسلامة في المملكة العربية السعودية.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302758" y="412844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8358" y="412844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rgbClr val="FF0000"/>
                </a:solidFill>
              </a:rPr>
              <a:t>إزالة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7497" y="2316479"/>
            <a:ext cx="290656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r" rtl="1"/>
            <a:r>
              <a:rPr lang="en-US" sz="1400" dirty="0" smtClean="0">
                <a:solidFill>
                  <a:schemeClr val="bg1"/>
                </a:solidFill>
              </a:rPr>
              <a:t>+966 11 810 8828 / +966 569 757575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026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48343" y="757646"/>
            <a:ext cx="11643360" cy="5756365"/>
          </a:xfrm>
          <a:prstGeom prst="rect">
            <a:avLst/>
          </a:prstGeom>
          <a:solidFill>
            <a:srgbClr val="0A1B2E"/>
          </a:solidFill>
          <a:ln>
            <a:solidFill>
              <a:srgbClr val="0A1B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64" y="2398686"/>
            <a:ext cx="10058400" cy="2060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9153" y="869200"/>
            <a:ext cx="362310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ar-SA" dirty="0" smtClean="0">
                <a:solidFill>
                  <a:schemeClr val="bg1"/>
                </a:solidFill>
              </a:rPr>
              <a:t>اللوجو هذا افضل من اللوجو الأبيض المستخدم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06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473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Ahmed</dc:creator>
  <cp:lastModifiedBy>Aiman Ahmed</cp:lastModifiedBy>
  <cp:revision>18</cp:revision>
  <dcterms:created xsi:type="dcterms:W3CDTF">2026-07-21T09:41:35Z</dcterms:created>
  <dcterms:modified xsi:type="dcterms:W3CDTF">2026-07-28T10:40:25Z</dcterms:modified>
</cp:coreProperties>
</file>